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1150560" y="285840"/>
            <a:ext cx="7792920" cy="2885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3894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632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56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3894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1632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150560" y="285840"/>
            <a:ext cx="7792920" cy="2885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3894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1632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156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3894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1632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1150560" y="285840"/>
            <a:ext cx="7792920" cy="2885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15600" y="3859200"/>
            <a:ext cx="820404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819680" y="125856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61560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4819680" y="3859200"/>
            <a:ext cx="400356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33894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6163200" y="125856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156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body"/>
          </p:nvPr>
        </p:nvSpPr>
        <p:spPr>
          <a:xfrm>
            <a:off x="33894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 type="body"/>
          </p:nvPr>
        </p:nvSpPr>
        <p:spPr>
          <a:xfrm>
            <a:off x="6163200" y="3859200"/>
            <a:ext cx="2641320" cy="23745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127080" y="144360"/>
            <a:ext cx="8542080" cy="1052280"/>
            <a:chOff x="127080" y="144360"/>
            <a:chExt cx="8542080" cy="1052280"/>
          </a:xfrm>
        </p:grpSpPr>
        <p:sp>
          <p:nvSpPr>
            <p:cNvPr id="1" name="CustomShape 2"/>
            <p:cNvSpPr/>
            <p:nvPr/>
          </p:nvSpPr>
          <p:spPr>
            <a:xfrm>
              <a:off x="417600" y="252360"/>
              <a:ext cx="438120" cy="474480"/>
            </a:xfrm>
            <a:prstGeom prst="rect">
              <a:avLst/>
            </a:prstGeom>
            <a:solidFill>
              <a:srgbClr val="ffcf0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CustomShape 3"/>
            <p:cNvSpPr/>
            <p:nvPr/>
          </p:nvSpPr>
          <p:spPr>
            <a:xfrm>
              <a:off x="800280" y="252360"/>
              <a:ext cx="328320" cy="474480"/>
            </a:xfrm>
            <a:prstGeom prst="rect">
              <a:avLst/>
            </a:prstGeom>
            <a:gradFill rotWithShape="0">
              <a:gsLst>
                <a:gs pos="0">
                  <a:srgbClr val="ffcf01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541440" y="674640"/>
              <a:ext cx="422280" cy="47448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911160" y="674640"/>
              <a:ext cx="368280" cy="474480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127080" y="601560"/>
              <a:ext cx="560160" cy="4222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762120" y="144360"/>
              <a:ext cx="31680" cy="105228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442800" y="934920"/>
              <a:ext cx="8226360" cy="3168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" name="PlaceHolder 9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r>
              <a:rPr b="0" lang="en-US" sz="3400" spc="-1" strike="noStrike">
                <a:solidFill>
                  <a:srgbClr val="333399"/>
                </a:solidFill>
                <a:latin typeface="Arial"/>
              </a:rPr>
              <a:t>Clique para editar o formato do texto do título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9" name="PlaceHolder 10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85480">
              <a:spcBef>
                <a:spcPts val="598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598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  <a:tab algn="l" pos="8915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598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CustomShape 11"/>
          <p:cNvSpPr/>
          <p:nvPr/>
        </p:nvSpPr>
        <p:spPr>
          <a:xfrm>
            <a:off x="108000" y="6453360"/>
            <a:ext cx="5502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Infraestrutura de alta disponibilidade em ambiente home office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" name="CustomShape 12"/>
          <p:cNvSpPr/>
          <p:nvPr/>
        </p:nvSpPr>
        <p:spPr>
          <a:xfrm>
            <a:off x="6883200" y="6453360"/>
            <a:ext cx="2152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Eros Vitor Bornatowski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r>
              <a:rPr b="0" lang="en-US" sz="3400" spc="-1" strike="noStrike">
                <a:solidFill>
                  <a:srgbClr val="333399"/>
                </a:solidFill>
                <a:latin typeface="Arial"/>
              </a:rPr>
              <a:t>Clique para editar o formato do texto do título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85480">
              <a:spcBef>
                <a:spcPts val="598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598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  <a:tab algn="l" pos="8915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598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1"/>
          <p:cNvGrpSpPr/>
          <p:nvPr/>
        </p:nvGrpSpPr>
        <p:grpSpPr>
          <a:xfrm>
            <a:off x="127080" y="144360"/>
            <a:ext cx="8542080" cy="1052280"/>
            <a:chOff x="127080" y="144360"/>
            <a:chExt cx="8542080" cy="1052280"/>
          </a:xfrm>
        </p:grpSpPr>
        <p:sp>
          <p:nvSpPr>
            <p:cNvPr id="87" name="CustomShape 2"/>
            <p:cNvSpPr/>
            <p:nvPr/>
          </p:nvSpPr>
          <p:spPr>
            <a:xfrm>
              <a:off x="417600" y="252360"/>
              <a:ext cx="438120" cy="474480"/>
            </a:xfrm>
            <a:prstGeom prst="rect">
              <a:avLst/>
            </a:prstGeom>
            <a:solidFill>
              <a:srgbClr val="ffcf0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CustomShape 3"/>
            <p:cNvSpPr/>
            <p:nvPr/>
          </p:nvSpPr>
          <p:spPr>
            <a:xfrm>
              <a:off x="800280" y="252360"/>
              <a:ext cx="328320" cy="474480"/>
            </a:xfrm>
            <a:prstGeom prst="rect">
              <a:avLst/>
            </a:prstGeom>
            <a:gradFill rotWithShape="0">
              <a:gsLst>
                <a:gs pos="0">
                  <a:srgbClr val="ffcf01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CustomShape 4"/>
            <p:cNvSpPr/>
            <p:nvPr/>
          </p:nvSpPr>
          <p:spPr>
            <a:xfrm>
              <a:off x="541440" y="674640"/>
              <a:ext cx="422280" cy="47448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CustomShape 5"/>
            <p:cNvSpPr/>
            <p:nvPr/>
          </p:nvSpPr>
          <p:spPr>
            <a:xfrm>
              <a:off x="911160" y="674640"/>
              <a:ext cx="368280" cy="474480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6"/>
            <p:cNvSpPr/>
            <p:nvPr/>
          </p:nvSpPr>
          <p:spPr>
            <a:xfrm>
              <a:off x="127080" y="601560"/>
              <a:ext cx="560160" cy="4222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CustomShape 7"/>
            <p:cNvSpPr/>
            <p:nvPr/>
          </p:nvSpPr>
          <p:spPr>
            <a:xfrm>
              <a:off x="762120" y="144360"/>
              <a:ext cx="31680" cy="105228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8"/>
            <p:cNvSpPr/>
            <p:nvPr/>
          </p:nvSpPr>
          <p:spPr>
            <a:xfrm>
              <a:off x="442800" y="934920"/>
              <a:ext cx="8226360" cy="3168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4" name="PlaceHolder 9"/>
          <p:cNvSpPr>
            <a:spLocks noGrp="1"/>
          </p:cNvSpPr>
          <p:nvPr>
            <p:ph type="title"/>
          </p:nvPr>
        </p:nvSpPr>
        <p:spPr>
          <a:xfrm>
            <a:off x="1150560" y="285840"/>
            <a:ext cx="7792920" cy="62208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r>
              <a:rPr b="0" lang="en-US" sz="3400" spc="-1" strike="noStrike">
                <a:solidFill>
                  <a:srgbClr val="333399"/>
                </a:solidFill>
                <a:latin typeface="Arial"/>
              </a:rPr>
              <a:t>Clique para editar o formato do texto do título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95" name="PlaceHolder 10"/>
          <p:cNvSpPr>
            <a:spLocks noGrp="1"/>
          </p:cNvSpPr>
          <p:nvPr>
            <p:ph type="body"/>
          </p:nvPr>
        </p:nvSpPr>
        <p:spPr>
          <a:xfrm>
            <a:off x="615600" y="1258560"/>
            <a:ext cx="8204040" cy="49784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85480">
              <a:spcBef>
                <a:spcPts val="598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598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  <a:tab algn="l" pos="8915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598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228600"/>
                <a:tab algn="l" pos="1143000"/>
                <a:tab algn="l" pos="2057400"/>
                <a:tab algn="l" pos="2971800"/>
                <a:tab algn="l" pos="3886200"/>
                <a:tab algn="l" pos="4800600"/>
                <a:tab algn="l" pos="5715000"/>
                <a:tab algn="l" pos="6629400"/>
                <a:tab algn="l" pos="7543800"/>
                <a:tab algn="l" pos="84582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598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685800"/>
                <a:tab algn="l" pos="1600200"/>
                <a:tab algn="l" pos="2514600"/>
                <a:tab algn="l" pos="3429000"/>
                <a:tab algn="l" pos="4343400"/>
                <a:tab algn="l" pos="5257800"/>
                <a:tab algn="l" pos="6172200"/>
                <a:tab algn="l" pos="7086600"/>
                <a:tab algn="l" pos="8001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ustomShape 11"/>
          <p:cNvSpPr/>
          <p:nvPr/>
        </p:nvSpPr>
        <p:spPr>
          <a:xfrm>
            <a:off x="108000" y="6453360"/>
            <a:ext cx="5502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Infraestrutura de alta disponibilidade em ambiente home office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7" name="CustomShape 12"/>
          <p:cNvSpPr/>
          <p:nvPr/>
        </p:nvSpPr>
        <p:spPr>
          <a:xfrm>
            <a:off x="6883200" y="6453360"/>
            <a:ext cx="2152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Eros Vitor Bornatowski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324000" y="2608200"/>
            <a:ext cx="8496000" cy="1108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pc="-1" strike="noStrike">
                <a:solidFill>
                  <a:srgbClr val="333399"/>
                </a:solidFill>
                <a:latin typeface="FreeSans"/>
              </a:rPr>
              <a:t>Estudo da viabilidade do uso de infraestrutura de alta disponibilidade em ambiente home office</a:t>
            </a:r>
            <a:endParaRPr b="0" lang="en-US" sz="44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Motivação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 algn="just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Disciplina </a:t>
            </a:r>
            <a:r>
              <a:rPr b="1" lang="pt-BR" sz="2400" spc="-1" strike="noStrike">
                <a:solidFill>
                  <a:srgbClr val="000000"/>
                </a:solidFill>
                <a:latin typeface="FreeSans"/>
              </a:rPr>
              <a:t>Infraestrutura para serviços TIC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 algn="just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Post no Linkedin sobre redundância no home office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 algn="just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Situações no trabalho presencial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 algn="just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Dificuldades pessoais no home office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Problemas avaliados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Queda de energia elétrica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Interrupção do serviço de banda larga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Falhas no computador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3"/>
          <p:cNvSpPr/>
          <p:nvPr/>
        </p:nvSpPr>
        <p:spPr>
          <a:xfrm>
            <a:off x="2743200" y="3291840"/>
            <a:ext cx="3657600" cy="2011680"/>
          </a:xfrm>
          <a:custGeom>
            <a:avLst/>
            <a:gdLst/>
            <a:ahLst/>
            <a:rect l="l" t="t" r="r" b="b"/>
            <a:pathLst>
              <a:path w="153" h="132">
                <a:moveTo>
                  <a:pt x="123" y="39"/>
                </a:moveTo>
                <a:cubicBezTo>
                  <a:pt x="116" y="26"/>
                  <a:pt x="113" y="13"/>
                  <a:pt x="114" y="0"/>
                </a:cubicBezTo>
                <a:cubicBezTo>
                  <a:pt x="103" y="7"/>
                  <a:pt x="90" y="11"/>
                  <a:pt x="76" y="11"/>
                </a:cubicBezTo>
                <a:cubicBezTo>
                  <a:pt x="62" y="11"/>
                  <a:pt x="49" y="7"/>
                  <a:pt x="38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8" y="13"/>
                  <a:pt x="35" y="27"/>
                  <a:pt x="28" y="39"/>
                </a:cubicBezTo>
                <a:cubicBezTo>
                  <a:pt x="22" y="51"/>
                  <a:pt x="11" y="60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0" y="67"/>
                  <a:pt x="0" y="67"/>
                </a:cubicBezTo>
                <a:cubicBezTo>
                  <a:pt x="12" y="73"/>
                  <a:pt x="22" y="82"/>
                  <a:pt x="28" y="93"/>
                </a:cubicBezTo>
                <a:cubicBezTo>
                  <a:pt x="35" y="105"/>
                  <a:pt x="38" y="119"/>
                  <a:pt x="38" y="13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49" y="125"/>
                  <a:pt x="62" y="121"/>
                  <a:pt x="76" y="121"/>
                </a:cubicBezTo>
                <a:cubicBezTo>
                  <a:pt x="90" y="121"/>
                  <a:pt x="103" y="125"/>
                  <a:pt x="114" y="132"/>
                </a:cubicBezTo>
                <a:cubicBezTo>
                  <a:pt x="114" y="132"/>
                  <a:pt x="114" y="132"/>
                  <a:pt x="114" y="132"/>
                </a:cubicBezTo>
                <a:cubicBezTo>
                  <a:pt x="113" y="119"/>
                  <a:pt x="116" y="106"/>
                  <a:pt x="123" y="93"/>
                </a:cubicBezTo>
                <a:cubicBezTo>
                  <a:pt x="130" y="81"/>
                  <a:pt x="141" y="72"/>
                  <a:pt x="153" y="66"/>
                </a:cubicBezTo>
                <a:cubicBezTo>
                  <a:pt x="153" y="66"/>
                  <a:pt x="153" y="66"/>
                  <a:pt x="153" y="66"/>
                </a:cubicBezTo>
                <a:cubicBezTo>
                  <a:pt x="141" y="60"/>
                  <a:pt x="130" y="51"/>
                  <a:pt x="123" y="39"/>
                </a:cubicBezTo>
                <a:close/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Depende</a:t>
            </a:r>
            <a:endParaRPr b="1" lang="en-US" sz="24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muito</a:t>
            </a:r>
            <a:endParaRPr b="1" lang="en-US" sz="24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da região</a:t>
            </a:r>
            <a:endParaRPr b="1" lang="en-US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-1440" y="2832840"/>
            <a:ext cx="9144000" cy="1080000"/>
          </a:xfrm>
          <a:prstGeom prst="rect">
            <a:avLst/>
          </a:prstGeom>
          <a:solidFill>
            <a:srgbClr val="333399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FreeSans"/>
              </a:rPr>
              <a:t>Queda de energia elétrica</a:t>
            </a:r>
            <a:endParaRPr b="0" lang="en-US" sz="42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Queda de energia elétrica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Utilizar gerador de energia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3" name="Group 3"/>
          <p:cNvGrpSpPr/>
          <p:nvPr/>
        </p:nvGrpSpPr>
        <p:grpSpPr>
          <a:xfrm>
            <a:off x="1463040" y="2468880"/>
            <a:ext cx="6035040" cy="3108960"/>
            <a:chOff x="1463040" y="2468880"/>
            <a:chExt cx="6035040" cy="3108960"/>
          </a:xfrm>
        </p:grpSpPr>
        <p:pic>
          <p:nvPicPr>
            <p:cNvPr id="144" name="" descr=""/>
            <p:cNvPicPr/>
            <p:nvPr/>
          </p:nvPicPr>
          <p:blipFill>
            <a:blip r:embed="rId1"/>
            <a:stretch/>
          </p:blipFill>
          <p:spPr>
            <a:xfrm>
              <a:off x="1463040" y="2468880"/>
              <a:ext cx="3108960" cy="31089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5" name="TextShape 4"/>
            <p:cNvSpPr txBox="1"/>
            <p:nvPr/>
          </p:nvSpPr>
          <p:spPr>
            <a:xfrm>
              <a:off x="5120640" y="3017520"/>
              <a:ext cx="2286000" cy="5169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0" lang="en-US" sz="2800" spc="497" strike="noStrike" u="sng">
                  <a:solidFill>
                    <a:srgbClr val="000000"/>
                  </a:solidFill>
                  <a:uFillTx/>
                  <a:latin typeface="FreeSans"/>
                </a:rPr>
                <a:t>NOBREAK</a:t>
              </a:r>
              <a:endParaRPr b="0" lang="en-US" sz="2800" spc="-1" strike="noStrike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46" name="TextShape 5"/>
            <p:cNvSpPr txBox="1"/>
            <p:nvPr/>
          </p:nvSpPr>
          <p:spPr>
            <a:xfrm>
              <a:off x="5120640" y="3657600"/>
              <a:ext cx="237744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>
                <a:lnSpc>
                  <a:spcPct val="100000"/>
                </a:lnSpc>
                <a:spcBef>
                  <a:spcPts val="598"/>
                </a:spcBef>
                <a:tabLst>
                  <a:tab algn="l" pos="571320"/>
                  <a:tab algn="l" pos="1485720"/>
                  <a:tab algn="l" pos="2400120"/>
                  <a:tab algn="l" pos="3314520"/>
                  <a:tab algn="l" pos="4228920"/>
                  <a:tab algn="l" pos="5143320"/>
                  <a:tab algn="l" pos="6057720"/>
                  <a:tab algn="l" pos="6972120"/>
                  <a:tab algn="l" pos="7886520"/>
                  <a:tab algn="l" pos="8800920"/>
                  <a:tab algn="l" pos="9715320"/>
                </a:tabLst>
              </a:pPr>
              <a:r>
                <a:rPr b="0" lang="pt-BR" sz="1600" spc="-1" strike="noStrike">
                  <a:solidFill>
                    <a:srgbClr val="000000"/>
                  </a:solidFill>
                  <a:latin typeface="FreeSans"/>
                </a:rPr>
                <a:t>Interativo semissenoidal</a:t>
              </a:r>
              <a:endParaRPr b="0" lang="en-US" sz="1600" spc="-1" strike="noStrike">
                <a:solidFill>
                  <a:srgbClr val="000000"/>
                </a:solidFill>
                <a:latin typeface="Tahoma"/>
              </a:endParaRPr>
            </a:p>
            <a:p>
              <a:pPr algn="ctr">
                <a:lnSpc>
                  <a:spcPct val="100000"/>
                </a:lnSpc>
                <a:spcBef>
                  <a:spcPts val="598"/>
                </a:spcBef>
                <a:tabLst>
                  <a:tab algn="l" pos="571320"/>
                  <a:tab algn="l" pos="1485720"/>
                  <a:tab algn="l" pos="2400120"/>
                  <a:tab algn="l" pos="3314520"/>
                  <a:tab algn="l" pos="4228920"/>
                  <a:tab algn="l" pos="5143320"/>
                  <a:tab algn="l" pos="6057720"/>
                  <a:tab algn="l" pos="6972120"/>
                  <a:tab algn="l" pos="7886520"/>
                  <a:tab algn="l" pos="8800920"/>
                  <a:tab algn="l" pos="9715320"/>
                </a:tabLst>
              </a:pPr>
              <a:r>
                <a:rPr b="0" lang="pt-BR" sz="1600" spc="-1" strike="noStrike">
                  <a:solidFill>
                    <a:srgbClr val="000000"/>
                  </a:solidFill>
                  <a:latin typeface="FreeSans"/>
                </a:rPr>
                <a:t>Interativo senoidal</a:t>
              </a:r>
              <a:endParaRPr b="0" lang="en-US" sz="1600" spc="-1" strike="noStrike">
                <a:solidFill>
                  <a:srgbClr val="000000"/>
                </a:solidFill>
                <a:latin typeface="Tahoma"/>
              </a:endParaRPr>
            </a:p>
            <a:p>
              <a:pPr algn="ctr">
                <a:lnSpc>
                  <a:spcPct val="100000"/>
                </a:lnSpc>
                <a:spcBef>
                  <a:spcPts val="598"/>
                </a:spcBef>
                <a:tabLst>
                  <a:tab algn="l" pos="571320"/>
                  <a:tab algn="l" pos="1485720"/>
                  <a:tab algn="l" pos="2400120"/>
                  <a:tab algn="l" pos="3314520"/>
                  <a:tab algn="l" pos="4228920"/>
                  <a:tab algn="l" pos="5143320"/>
                  <a:tab algn="l" pos="6057720"/>
                  <a:tab algn="l" pos="6972120"/>
                  <a:tab algn="l" pos="7886520"/>
                  <a:tab algn="l" pos="8800920"/>
                  <a:tab algn="l" pos="9715320"/>
                </a:tabLst>
              </a:pPr>
              <a:r>
                <a:rPr b="0" lang="pt-BR" sz="1600" spc="-1" strike="noStrike">
                  <a:solidFill>
                    <a:srgbClr val="000000"/>
                  </a:solidFill>
                  <a:latin typeface="FreeSans"/>
                </a:rPr>
                <a:t>Online senoidal</a:t>
              </a:r>
              <a:endParaRPr b="0" lang="en-US" sz="1600" spc="-1" strike="noStrike">
                <a:solidFill>
                  <a:srgbClr val="000000"/>
                </a:solidFill>
                <a:latin typeface="Tahom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Como escolher um nobreak???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Dimensionando!!!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Dimensionando um nobreak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Avaliar o tipo dos equipamentos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Avaliar a tensão da rede elétrica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Calcular a potência total dos equipamentos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Tempo de funcionamento dos equipamentos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Dimensionando um nobreak - Exemplo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Roteador 15 Watts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Computador Desktop 450 Watts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Dimensionando um nobreak - Exemplo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ff0000"/>
                </a:solidFill>
                <a:latin typeface="FreeSans"/>
              </a:rPr>
              <a:t>Passo 1: Avaliando o tipo dos equipamentos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&gt; Roteador e Computador Desktop são considerados equipamentos simples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&gt; Portanto, um </a:t>
            </a:r>
            <a:r>
              <a:rPr b="1" lang="pt-BR" sz="2400" spc="-1" strike="noStrike">
                <a:solidFill>
                  <a:srgbClr val="000000"/>
                </a:solidFill>
                <a:latin typeface="FreeSans"/>
              </a:rPr>
              <a:t>nobreak interativo, semissenoidal</a:t>
            </a: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 atenderá as necessidades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Dimensionando um nobreak - Exemplo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6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ff0000"/>
                </a:solidFill>
                <a:latin typeface="FreeSans"/>
              </a:rPr>
              <a:t>Passo 2: Avaliando a tensão da rede elétrica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&gt; O roteador e o computador desktop serão utilizados numa residência onde a rede elétrica é de 127V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&gt; Portanto, um </a:t>
            </a:r>
            <a:r>
              <a:rPr b="1" lang="pt-BR" sz="2400" spc="-1" strike="noStrike">
                <a:solidFill>
                  <a:srgbClr val="000000"/>
                </a:solidFill>
                <a:latin typeface="FreeSans"/>
              </a:rPr>
              <a:t>nobreak interativo, semissenoidal, 127V</a:t>
            </a: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 atenderá as necessidades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Dimensionando um nobreak - Exemplo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ff0000"/>
                </a:solidFill>
                <a:latin typeface="FreeSans"/>
              </a:rPr>
              <a:t>Passo 3: Calculando a potência total dos equipamentos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&gt; Sabendo que o roteador tem </a:t>
            </a:r>
            <a:r>
              <a:rPr b="1" lang="pt-BR" sz="2000" spc="-1" strike="noStrike">
                <a:solidFill>
                  <a:srgbClr val="000000"/>
                </a:solidFill>
                <a:latin typeface="FreeSans"/>
              </a:rPr>
              <a:t>15 Watts</a:t>
            </a: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 e o computador desktop tem </a:t>
            </a:r>
            <a:r>
              <a:rPr b="1" lang="pt-BR" sz="2000" spc="-1" strike="noStrike">
                <a:solidFill>
                  <a:srgbClr val="000000"/>
                </a:solidFill>
                <a:latin typeface="FreeSans"/>
              </a:rPr>
              <a:t>450 Watts</a:t>
            </a: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, tem-se uma potência total de </a:t>
            </a:r>
            <a:r>
              <a:rPr b="1" lang="pt-BR" sz="2000" spc="-1" strike="noStrike">
                <a:solidFill>
                  <a:srgbClr val="000000"/>
                </a:solidFill>
                <a:latin typeface="FreeSans"/>
              </a:rPr>
              <a:t>465 Watts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&gt; Adicionando a margem de segurança de 30%, temos uma nova potência de </a:t>
            </a:r>
            <a:r>
              <a:rPr b="1" lang="pt-BR" sz="2000" spc="-1" strike="noStrike">
                <a:solidFill>
                  <a:srgbClr val="000000"/>
                </a:solidFill>
                <a:latin typeface="FreeSans"/>
              </a:rPr>
              <a:t>605 Watts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&gt; Portanto, um </a:t>
            </a:r>
            <a:r>
              <a:rPr b="1" lang="pt-BR" sz="2000" spc="-1" strike="noStrike">
                <a:solidFill>
                  <a:srgbClr val="000000"/>
                </a:solidFill>
                <a:latin typeface="FreeSans"/>
              </a:rPr>
              <a:t>nobreak interativo, semissenoidal, 127V, 900 VA, fator potência 0,7</a:t>
            </a:r>
            <a:r>
              <a:rPr b="0" lang="pt-BR" sz="2000" spc="-1" strike="noStrike">
                <a:solidFill>
                  <a:srgbClr val="000000"/>
                </a:solidFill>
                <a:latin typeface="FreeSans"/>
              </a:rPr>
              <a:t> atenderá as necessidades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CustomShape 3"/>
          <p:cNvSpPr/>
          <p:nvPr/>
        </p:nvSpPr>
        <p:spPr>
          <a:xfrm>
            <a:off x="2224080" y="5394960"/>
            <a:ext cx="4846320" cy="731520"/>
          </a:xfrm>
          <a:prstGeom prst="rect">
            <a:avLst/>
          </a:prstGeom>
          <a:solidFill>
            <a:srgbClr val="729fc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ahoma"/>
              </a:rPr>
              <a:t>900 VA x 0,7 = 630 Watts</a:t>
            </a:r>
            <a:endParaRPr b="1" lang="en-US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Infraestrutura com nobreak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044360" y="2685960"/>
            <a:ext cx="6831000" cy="1778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-1440" y="2832840"/>
            <a:ext cx="9144000" cy="1080000"/>
          </a:xfrm>
          <a:prstGeom prst="rect">
            <a:avLst/>
          </a:prstGeom>
          <a:solidFill>
            <a:srgbClr val="333399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FreeSans"/>
              </a:rPr>
              <a:t>Interrupção serviço banda larga</a:t>
            </a:r>
            <a:endParaRPr b="0" lang="en-US" sz="42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Interrupção do serviço banda larga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Possíveis soluções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3"/>
          <p:cNvSpPr/>
          <p:nvPr/>
        </p:nvSpPr>
        <p:spPr>
          <a:xfrm>
            <a:off x="1078560" y="2834640"/>
            <a:ext cx="1920240" cy="2103120"/>
          </a:xfrm>
          <a:prstGeom prst="rect">
            <a:avLst/>
          </a:prstGeom>
          <a:solidFill>
            <a:srgbClr val="ffffff"/>
          </a:solidFill>
          <a:ln w="29160">
            <a:solidFill>
              <a:srgbClr val="808080"/>
            </a:solidFill>
            <a:round/>
          </a:ln>
          <a:effectLst>
            <a:outerShdw dist="101823" dir="270000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04400" rIns="1044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plano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de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celular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</p:txBody>
      </p:sp>
      <p:sp>
        <p:nvSpPr>
          <p:cNvPr id="166" name="CustomShape 4"/>
          <p:cNvSpPr/>
          <p:nvPr/>
        </p:nvSpPr>
        <p:spPr>
          <a:xfrm>
            <a:off x="3657600" y="2834640"/>
            <a:ext cx="1920240" cy="2103120"/>
          </a:xfrm>
          <a:prstGeom prst="rect">
            <a:avLst/>
          </a:prstGeom>
          <a:solidFill>
            <a:srgbClr val="ffffff"/>
          </a:solidFill>
          <a:ln w="29160">
            <a:solidFill>
              <a:srgbClr val="808080"/>
            </a:solidFill>
            <a:round/>
          </a:ln>
          <a:effectLst>
            <a:outerShdw dist="101823" dir="270000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04400" rIns="1044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segundo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chip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</p:txBody>
      </p:sp>
      <p:sp>
        <p:nvSpPr>
          <p:cNvPr id="167" name="CustomShape 5"/>
          <p:cNvSpPr/>
          <p:nvPr/>
        </p:nvSpPr>
        <p:spPr>
          <a:xfrm>
            <a:off x="6217920" y="2834640"/>
            <a:ext cx="1920240" cy="2103120"/>
          </a:xfrm>
          <a:prstGeom prst="rect">
            <a:avLst/>
          </a:prstGeom>
          <a:solidFill>
            <a:srgbClr val="ffffff"/>
          </a:solidFill>
          <a:ln w="29160">
            <a:solidFill>
              <a:srgbClr val="808080"/>
            </a:solidFill>
            <a:round/>
          </a:ln>
          <a:effectLst>
            <a:outerShdw dist="101823" dir="270000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04400" rIns="1044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segundo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link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33"/>
                </a:solidFill>
                <a:latin typeface="FreeSans"/>
              </a:rPr>
              <a:t>internet</a:t>
            </a:r>
            <a:endParaRPr b="0" lang="en-US" sz="2800" spc="-1" strike="noStrike">
              <a:solidFill>
                <a:srgbClr val="333333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" dur="indefinite" restart="never" nodeType="tmRoot">
          <p:childTnLst>
            <p:seq>
              <p:cTn id="23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38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Segundo link banda larga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254960" y="2666880"/>
            <a:ext cx="6740280" cy="1810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-1440" y="2832840"/>
            <a:ext cx="9144000" cy="1080000"/>
          </a:xfrm>
          <a:prstGeom prst="rect">
            <a:avLst/>
          </a:prstGeom>
          <a:solidFill>
            <a:srgbClr val="333399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FreeSans"/>
              </a:rPr>
              <a:t>Falhas no computador</a:t>
            </a:r>
            <a:endParaRPr b="0" lang="en-US" sz="42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Falhas no computador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72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Desgaste natural do hardware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Defeitos causados por descargas elétricas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Atualizações indevidas do sistema operacional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Instalação incorreta de softwares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CustomShape 3"/>
          <p:cNvSpPr/>
          <p:nvPr/>
        </p:nvSpPr>
        <p:spPr>
          <a:xfrm rot="20400">
            <a:off x="3057120" y="4081320"/>
            <a:ext cx="2646360" cy="1372320"/>
          </a:xfrm>
          <a:custGeom>
            <a:avLst/>
            <a:gdLst/>
            <a:ahLst/>
            <a:rect l="l" t="t" r="r" b="b"/>
            <a:pathLst>
              <a:path w="153" h="132">
                <a:moveTo>
                  <a:pt x="123" y="39"/>
                </a:moveTo>
                <a:cubicBezTo>
                  <a:pt x="116" y="26"/>
                  <a:pt x="113" y="13"/>
                  <a:pt x="114" y="0"/>
                </a:cubicBezTo>
                <a:cubicBezTo>
                  <a:pt x="103" y="7"/>
                  <a:pt x="90" y="11"/>
                  <a:pt x="76" y="11"/>
                </a:cubicBezTo>
                <a:cubicBezTo>
                  <a:pt x="62" y="11"/>
                  <a:pt x="49" y="7"/>
                  <a:pt x="38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8" y="13"/>
                  <a:pt x="35" y="27"/>
                  <a:pt x="28" y="39"/>
                </a:cubicBezTo>
                <a:cubicBezTo>
                  <a:pt x="22" y="51"/>
                  <a:pt x="11" y="60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0" y="67"/>
                  <a:pt x="0" y="67"/>
                </a:cubicBezTo>
                <a:cubicBezTo>
                  <a:pt x="12" y="73"/>
                  <a:pt x="22" y="82"/>
                  <a:pt x="28" y="93"/>
                </a:cubicBezTo>
                <a:cubicBezTo>
                  <a:pt x="35" y="105"/>
                  <a:pt x="38" y="119"/>
                  <a:pt x="38" y="131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38" y="132"/>
                  <a:pt x="38" y="132"/>
                  <a:pt x="38" y="132"/>
                </a:cubicBezTo>
                <a:cubicBezTo>
                  <a:pt x="49" y="125"/>
                  <a:pt x="62" y="121"/>
                  <a:pt x="76" y="121"/>
                </a:cubicBezTo>
                <a:cubicBezTo>
                  <a:pt x="90" y="121"/>
                  <a:pt x="103" y="125"/>
                  <a:pt x="114" y="132"/>
                </a:cubicBezTo>
                <a:cubicBezTo>
                  <a:pt x="114" y="132"/>
                  <a:pt x="114" y="132"/>
                  <a:pt x="114" y="132"/>
                </a:cubicBezTo>
                <a:cubicBezTo>
                  <a:pt x="113" y="119"/>
                  <a:pt x="116" y="106"/>
                  <a:pt x="123" y="93"/>
                </a:cubicBezTo>
                <a:cubicBezTo>
                  <a:pt x="130" y="81"/>
                  <a:pt x="141" y="72"/>
                  <a:pt x="153" y="66"/>
                </a:cubicBezTo>
                <a:cubicBezTo>
                  <a:pt x="153" y="66"/>
                  <a:pt x="153" y="66"/>
                  <a:pt x="153" y="66"/>
                </a:cubicBezTo>
                <a:cubicBezTo>
                  <a:pt x="141" y="60"/>
                  <a:pt x="130" y="51"/>
                  <a:pt x="123" y="39"/>
                </a:cubicBezTo>
                <a:close/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FreeSans"/>
              </a:rPr>
              <a:t>V D I</a:t>
            </a:r>
            <a:endParaRPr b="1" lang="en-US" sz="28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VDI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75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1" lang="pt-BR" sz="2400" spc="-1" strike="noStrike">
                <a:solidFill>
                  <a:srgbClr val="ff0000"/>
                </a:solidFill>
                <a:latin typeface="FreeSans"/>
              </a:rPr>
              <a:t>V</a:t>
            </a: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irtual </a:t>
            </a:r>
            <a:r>
              <a:rPr b="1" lang="pt-BR" sz="2400" spc="-1" strike="noStrike">
                <a:solidFill>
                  <a:srgbClr val="ff0000"/>
                </a:solidFill>
                <a:latin typeface="FreeSans"/>
              </a:rPr>
              <a:t>D</a:t>
            </a: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esktop </a:t>
            </a:r>
            <a:r>
              <a:rPr b="1" lang="pt-BR" sz="2400" spc="-1" strike="noStrike">
                <a:solidFill>
                  <a:srgbClr val="ff0000"/>
                </a:solidFill>
                <a:latin typeface="FreeSans"/>
              </a:rPr>
              <a:t>I</a:t>
            </a: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nfrastructure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Criação e disponibilização de desktops virtuais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Os desktops serão acessados remotamente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Qualquer dispositivo pode ser utilizado para acessar um desktop virtual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VDI – Benefícios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77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Facilidade em substituir o equipamento com falhas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Segurança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Atualização centralizada do S.O. e dos softwares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Mobilidade do usuário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Redução de custos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Gerenciamento e manutenção centralizados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-1440" y="2832840"/>
            <a:ext cx="9144000" cy="1080000"/>
          </a:xfrm>
          <a:prstGeom prst="rect">
            <a:avLst/>
          </a:prstGeom>
          <a:solidFill>
            <a:srgbClr val="333399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FreeSans"/>
              </a:rPr>
              <a:t>Concluindo</a:t>
            </a:r>
            <a:endParaRPr b="0" lang="en-US" sz="42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Pesquisa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80" name="TextShape 2"/>
          <p:cNvSpPr txBox="1"/>
          <p:nvPr/>
        </p:nvSpPr>
        <p:spPr>
          <a:xfrm>
            <a:off x="615600" y="1258560"/>
            <a:ext cx="8204040" cy="11188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Foram entrevistados 70 profissionais de TI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1" name="Table 3"/>
          <p:cNvGraphicFramePr/>
          <p:nvPr/>
        </p:nvGraphicFramePr>
        <p:xfrm>
          <a:off x="1241280" y="2270160"/>
          <a:ext cx="7040520" cy="2862360"/>
        </p:xfrm>
        <a:graphic>
          <a:graphicData uri="http://schemas.openxmlformats.org/drawingml/2006/table">
            <a:tbl>
              <a:tblPr/>
              <a:tblGrid>
                <a:gridCol w="4187160"/>
                <a:gridCol w="2853720"/>
              </a:tblGrid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Item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Percentual</a:t>
                      </a:r>
                      <a:endParaRPr b="1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Notebook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90%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</a:tr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Estabilizador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21,4%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</a:tr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Computador conectado ao nobreak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5,7%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</a:tr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Roteador conectado ao nobeak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7,1%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6f9d4"/>
                    </a:solidFill>
                  </a:tcPr>
                </a:tc>
              </a:tr>
              <a:tr h="35748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Utilizam celular quando estão sem banda larga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82,9%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</a:tr>
              <a:tr h="35892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Segundo plano de celular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12,9%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</a:tr>
              <a:tr h="358920">
                <a:tc>
                  <a:txBody>
                    <a:bodyPr lIns="90000" rIns="90000" tIns="46800" bIns="46800" anchor="ctr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Segundo link de internet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5,7%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ahoma"/>
                      </a:endParaRPr>
                    </a:p>
                  </a:txBody>
                  <a:tcPr marL="90000" marR="90000">
                    <a:lnL w="720">
                      <a:solidFill>
                        <a:srgbClr val="666666"/>
                      </a:solidFill>
                    </a:lnL>
                    <a:lnR w="720">
                      <a:solidFill>
                        <a:srgbClr val="666666"/>
                      </a:solidFill>
                    </a:lnR>
                    <a:lnT w="720">
                      <a:solidFill>
                        <a:srgbClr val="666666"/>
                      </a:solidFill>
                    </a:lnT>
                    <a:lnB w="720">
                      <a:solidFill>
                        <a:srgbClr val="666666"/>
                      </a:solidFill>
                    </a:lnB>
                    <a:solidFill>
                      <a:srgbClr val="ffdbb6"/>
                    </a:solidFill>
                  </a:tcPr>
                </a:tc>
              </a:tr>
            </a:tbl>
          </a:graphicData>
        </a:graphic>
      </p:graphicFrame>
      <p:sp>
        <p:nvSpPr>
          <p:cNvPr id="182" name="TextShape 4"/>
          <p:cNvSpPr txBox="1"/>
          <p:nvPr/>
        </p:nvSpPr>
        <p:spPr>
          <a:xfrm>
            <a:off x="1241280" y="5213520"/>
            <a:ext cx="5327280" cy="2728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Tahoma"/>
              </a:rPr>
              <a:t>Disponível em https://github.com/erosvitor/tcc-pos-cloudcomputing</a:t>
            </a:r>
            <a:endParaRPr b="0" lang="en-US" sz="12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3" name="TextShape 5"/>
          <p:cNvSpPr txBox="1"/>
          <p:nvPr/>
        </p:nvSpPr>
        <p:spPr>
          <a:xfrm rot="16198200">
            <a:off x="374400" y="3089880"/>
            <a:ext cx="1134720" cy="516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0000"/>
                </a:solidFill>
                <a:latin typeface="Tahoma"/>
              </a:rPr>
              <a:t>ENERGIA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0000"/>
                </a:solidFill>
                <a:latin typeface="Tahoma"/>
              </a:rPr>
              <a:t>ELÉTRICA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4" name="TextShape 6"/>
          <p:cNvSpPr txBox="1"/>
          <p:nvPr/>
        </p:nvSpPr>
        <p:spPr>
          <a:xfrm rot="16198200">
            <a:off x="496800" y="4327560"/>
            <a:ext cx="891000" cy="516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0000"/>
                </a:solidFill>
                <a:latin typeface="Tahoma"/>
              </a:rPr>
              <a:t>BANDA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0000"/>
                </a:solidFill>
                <a:latin typeface="Tahoma"/>
              </a:rPr>
              <a:t>LARGA</a:t>
            </a:r>
            <a:endParaRPr b="0" lang="en-US" sz="1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Pesquisa – Feedbacks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731520" y="1555560"/>
            <a:ext cx="7315200" cy="639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"...comprei uma Alexa e automatizei algumas coisas aqui em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casa e tô vendo aplicação do seu TCC…"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7" name="TextShape 3"/>
          <p:cNvSpPr txBox="1"/>
          <p:nvPr/>
        </p:nvSpPr>
        <p:spPr>
          <a:xfrm>
            <a:off x="730800" y="2560320"/>
            <a:ext cx="719424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"…senti um viés de continuidade de negócios na pesquisa…"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8" name="TextShape 4"/>
          <p:cNvSpPr txBox="1"/>
          <p:nvPr/>
        </p:nvSpPr>
        <p:spPr>
          <a:xfrm>
            <a:off x="730800" y="3474720"/>
            <a:ext cx="716976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"...me fez lembrar que preciso contratar um segundo chip…"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89" name="TextShape 5"/>
          <p:cNvSpPr txBox="1"/>
          <p:nvPr/>
        </p:nvSpPr>
        <p:spPr>
          <a:xfrm>
            <a:off x="730800" y="4389120"/>
            <a:ext cx="7590240" cy="639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1800" spc="-1" strike="noStrike">
                <a:solidFill>
                  <a:srgbClr val="000000"/>
                </a:solidFill>
                <a:latin typeface="Tahoma"/>
              </a:rPr>
              <a:t>"...pelas perguntas, já vi que meu home office esta bem vulnerável…"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1150560" y="285840"/>
            <a:ext cx="7792920" cy="622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400" spc="-1" strike="noStrike">
                <a:solidFill>
                  <a:srgbClr val="333399"/>
                </a:solidFill>
                <a:latin typeface="Arial"/>
              </a:rPr>
              <a:t>Conclusão</a:t>
            </a:r>
            <a:endParaRPr b="0" lang="en-US" sz="34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91" name="TextShape 2"/>
          <p:cNvSpPr txBox="1"/>
          <p:nvPr/>
        </p:nvSpPr>
        <p:spPr>
          <a:xfrm>
            <a:off x="615600" y="1258560"/>
            <a:ext cx="8204040" cy="497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COVID-19 trouxe mudanças culturais, comportamentais e sociais que dificilmente serão revertidas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Home office é uma realidade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O estudo realizado neste artigo pode beneficiar outros contextos, tais como IoT e profissionais de arquitetura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571320"/>
                <a:tab algn="l" pos="1485720"/>
                <a:tab algn="l" pos="2400120"/>
                <a:tab algn="l" pos="3314520"/>
                <a:tab algn="l" pos="4228920"/>
                <a:tab algn="l" pos="5143320"/>
                <a:tab algn="l" pos="6057720"/>
                <a:tab algn="l" pos="6972120"/>
                <a:tab algn="l" pos="7886520"/>
                <a:tab algn="l" pos="8800920"/>
                <a:tab algn="l" pos="971532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FreeSans"/>
              </a:rPr>
              <a:t>Trabalhos futuros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85480">
              <a:spcBef>
                <a:spcPts val="598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171360"/>
                <a:tab algn="l" pos="1085760"/>
                <a:tab algn="l" pos="2000160"/>
                <a:tab algn="l" pos="2914560"/>
                <a:tab algn="l" pos="3828960"/>
                <a:tab algn="l" pos="4743360"/>
                <a:tab algn="l" pos="5657760"/>
                <a:tab algn="l" pos="6572160"/>
                <a:tab algn="l" pos="7486560"/>
                <a:tab algn="l" pos="8400960"/>
                <a:tab algn="l" pos="9315360"/>
              </a:tabLst>
            </a:pPr>
            <a:r>
              <a:rPr b="0" lang="pt-BR" sz="2400" spc="-1" strike="noStrike">
                <a:solidFill>
                  <a:srgbClr val="ff0000"/>
                </a:solidFill>
                <a:latin typeface="FreeSans"/>
              </a:rPr>
              <a:t>Estudar e avaliar a utilização do recurso QoS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2743200" y="1964160"/>
            <a:ext cx="3609360" cy="3156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2012-08-15T18:55:03Z</dcterms:created>
  <dc:creator>43621955</dc:creator>
  <dc:description/>
  <dc:language>pt-BR</dc:language>
  <cp:lastModifiedBy/>
  <dcterms:modified xsi:type="dcterms:W3CDTF">2023-05-19T21:29:16Z</dcterms:modified>
  <cp:revision>170</cp:revision>
  <dc:subject/>
  <dc:title>Introdução</dc:title>
</cp:coreProperties>
</file>